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hyperlink" Target="http://localhost:8000/api/policies/hdfc_optima_secure_plus/document#page=5" TargetMode="External"/><Relationship Id="rId5" Type="http://schemas.openxmlformats.org/officeDocument/2006/relationships/hyperlink" Target="http://localhost:8000/api/policies/hdfc_optima_secure_plus/document#page=8" TargetMode="External"/><Relationship Id="rId6" Type="http://schemas.openxmlformats.org/officeDocument/2006/relationships/hyperlink" Target="http://localhost:8000/api/policies/hdfc_optima_secure_plus/document#page=1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7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sh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"/>
            <a:ext cx="2926080" cy="2400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0" y="32004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595360" cy="1371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000F47"/>
                </a:solidFill>
                <a:latin typeface="Georgia"/>
              </a:rPr>
              <a:t>Employee health cover for Infosys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377440"/>
            <a:ext cx="27432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000F47"/>
                </a:solidFill>
                <a:latin typeface="Calibri"/>
              </a:rPr>
              <a:t>Prepared by Marsh · September 2026</a:t>
            </a:r>
          </a:p>
          <a:p>
            <a:pPr algn="r"/>
            <a:r>
              <a:rPr sz="1200" b="0" i="0">
                <a:solidFill>
                  <a:srgbClr val="000F47"/>
                </a:solidFill>
                <a:latin typeface="Calibri"/>
              </a:rPr>
              <a:t>Draft v1, for advisor review</a:t>
            </a:r>
          </a:p>
          <a:p>
            <a:pPr algn="r"/>
            <a:r>
              <a:rPr sz="1200" b="0" i="0">
                <a:solidFill>
                  <a:srgbClr val="000F47"/>
                </a:solidFill>
                <a:latin typeface="Calibri"/>
              </a:rPr>
              <a:t>Evidence audit: PASS</a:t>
            </a:r>
          </a:p>
        </p:txBody>
      </p:sp>
      <p:pic>
        <p:nvPicPr>
          <p:cNvPr id="7" name="Picture 6" descr="cover.jpg"/>
          <p:cNvPicPr>
            <a:picLocks noChangeAspect="1"/>
          </p:cNvPicPr>
          <p:nvPr/>
        </p:nvPicPr>
        <p:blipFill>
          <a:blip r:embed="rId3"/>
          <a:srcRect t="3413" b="3413"/>
          <a:stretch>
            <a:fillRect/>
          </a:stretch>
        </p:blipFill>
        <p:spPr>
          <a:xfrm>
            <a:off x="365760" y="3520440"/>
            <a:ext cx="114300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808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Infosys: what we understand</a:t>
            </a:r>
          </a:p>
        </p:txBody>
      </p:sp>
      <p:pic>
        <p:nvPicPr>
          <p:cNvPr id="4" name="Picture 3" descr="mars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20040"/>
            <a:ext cx="2194560" cy="18002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492240"/>
            <a:ext cx="12191695" cy="0"/>
          </a:xfrm>
          <a:prstGeom prst="line">
            <a:avLst/>
          </a:prstGeom>
          <a:ln w="1270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arsh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611112"/>
            <a:ext cx="1737360" cy="142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6547104"/>
            <a:ext cx="6126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Benefit statements are drawn from insurer product brochures; policy wording prevails. Coverage terms, limits and waiting periods apply as per the policy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4710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Copyright © 2026 Marsh.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47104"/>
            <a:ext cx="3931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Client context and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What we understand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Industry (advisor input): IT services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Geography (advisor input): India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Employee count (advisor input): 320,000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Advisor priority: wellness and OPD: The advisor flagged 'wellness and OPD' as a client priority. (fact)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Employee hospitalisation: Employees and dependents need in-patient cover with restore of the sum insured after a large claim. (fact)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Assumptions to confirm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70167.5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61607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1" i="0">
                <a:solidFill>
                  <a:srgbClr val="64748B"/>
                </a:solidFill>
                <a:latin typeface="Calibri"/>
              </a:rPr>
              <a:t>Assumption: </a:t>
            </a:r>
            <a:r>
              <a:rPr sz="1600" b="0" i="0">
                <a:solidFill>
                  <a:srgbClr val="000F47"/>
                </a:solidFill>
                <a:latin typeface="Calibri"/>
              </a:rPr>
              <a:t>Waiting periods for new joiners: New employees with pre-existing conditions face waiting periods before cover applies. (inference)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.5" y="1435608"/>
            <a:ext cx="0.0" cy="4645152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8808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Why HDFC ERGO Optima Secure+ fits</a:t>
            </a:r>
          </a:p>
        </p:txBody>
      </p:sp>
      <p:pic>
        <p:nvPicPr>
          <p:cNvPr id="6" name="Picture 5" descr="mars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20040"/>
            <a:ext cx="2194560" cy="18002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0" y="6492240"/>
            <a:ext cx="12191695" cy="0"/>
          </a:xfrm>
          <a:prstGeom prst="line">
            <a:avLst/>
          </a:prstGeom>
          <a:ln w="1270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marsh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611112"/>
            <a:ext cx="1737360" cy="1425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6547104"/>
            <a:ext cx="6126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Benefit statements are drawn from insurer product brochures; policy wording prevails. Coverage terms, limits and waiting periods apply as per the policy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4710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Copyright © 2026 Marsh.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47104"/>
            <a:ext cx="3931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56175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39055"/>
            <a:ext cx="5272887" cy="469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1. </a:t>
            </a:r>
            <a:r>
              <a:rPr sz="900" b="0" i="0">
                <a:solidFill>
                  <a:srgbClr val="64748B"/>
                </a:solidFill>
                <a:latin typeface="Calibri"/>
                <a:hlinkClick r:id="rId4"/>
              </a:rPr>
              <a:t>HDFC ERGO Optima Secure+ brochure, p.5, Preventive Health Check-up (p5.2)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2. </a:t>
            </a:r>
            <a:r>
              <a:rPr sz="900" b="0" i="0">
                <a:solidFill>
                  <a:srgbClr val="64748B"/>
                </a:solidFill>
                <a:latin typeface="Calibri"/>
                <a:hlinkClick r:id="rId5"/>
              </a:rPr>
              <a:t>HDFC ERGO Optima Secure+ brochure, p.8, ABCD Chronic Care (p8.4)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3. </a:t>
            </a:r>
            <a:r>
              <a:rPr sz="900" b="0" i="0">
                <a:solidFill>
                  <a:srgbClr val="64748B"/>
                </a:solidFill>
                <a:latin typeface="Calibri"/>
                <a:hlinkClick r:id="rId6"/>
              </a:rPr>
              <a:t>HDFC ERGO Optima Secure+ brochure, p.11, Schedule of Key Benefits (p11.5)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5639055"/>
            <a:ext cx="5272887" cy="469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4. </a:t>
            </a:r>
            <a:r>
              <a:rPr sz="900" b="0" i="0">
                <a:solidFill>
                  <a:srgbClr val="64748B"/>
                </a:solidFill>
                <a:latin typeface="Calibri"/>
                <a:hlinkClick r:id="rId6"/>
              </a:rPr>
              <a:t>HDFC ERGO Optima Secure+ brochure, p.11, Schedule of Key Benefits (p11.4)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5. </a:t>
            </a:r>
            <a:r>
              <a:rPr sz="900" b="0" i="0">
                <a:solidFill>
                  <a:srgbClr val="64748B"/>
                </a:solidFill>
                <a:latin typeface="Calibri"/>
                <a:hlinkClick r:id="rId6"/>
              </a:rPr>
              <a:t>HDFC ERGO Optima Secure+ brochure, p.11, Schedule of Key Benefits (p11.14)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716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Key benefits, as stated in the insurer brochure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755648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Preventive health check-up: You will be provided preventive health check-up benefits post completion of every policy year, irrespective of claim status.</a:t>
            </a:r>
            <a:r>
              <a:rPr sz="1600" b="0" i="0" baseline="30000">
                <a:solidFill>
                  <a:srgbClr val="00A8C7"/>
                </a:solidFill>
                <a:latin typeface="Calibri"/>
                <a:hlinkClick r:id="rId4"/>
              </a:rPr>
              <a:t> 1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Teleconsultation / OPD: Optima Wellbeing (Add-on) Covers various outpatient benefits.</a:t>
            </a:r>
            <a:r>
              <a:rPr sz="1600" b="0" i="0" baseline="30000">
                <a:solidFill>
                  <a:srgbClr val="00A8C7"/>
                </a:solidFill>
                <a:latin typeface="Calibri"/>
                <a:hlinkClick r:id="rId5"/>
              </a:rPr>
              <a:t> 2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In-patient hospitalisation: Hospitalisation Expenses: Up to sum insured.</a:t>
            </a:r>
            <a:r>
              <a:rPr sz="1600" b="0" i="0" baseline="30000">
                <a:solidFill>
                  <a:srgbClr val="00A8C7"/>
                </a:solidFill>
                <a:latin typeface="Calibri"/>
                <a:hlinkClick r:id="rId6"/>
              </a:rPr>
              <a:t> 3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Room rent limit: Room Rent: At actuals.</a:t>
            </a:r>
            <a:r>
              <a:rPr sz="1600" b="0" i="0" baseline="30000">
                <a:solidFill>
                  <a:srgbClr val="00A8C7"/>
                </a:solidFill>
                <a:latin typeface="Calibri"/>
                <a:hlinkClick r:id="rId6"/>
              </a:rPr>
              <a:t> 4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Restore / recharge of sum insured: Automatic Restore Benefit (Unlimited times): Up to 100% of base sum insured, for any illness, for any insured person, unlimited times in a policy year.</a:t>
            </a:r>
            <a:r>
              <a:rPr sz="1600" b="0" i="0" baseline="30000">
                <a:solidFill>
                  <a:srgbClr val="00A8C7"/>
                </a:solidFill>
                <a:latin typeface="Calibri"/>
                <a:hlinkClick r:id="rId6"/>
              </a:rPr>
              <a:t>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808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How it compares and what to watch</a:t>
            </a:r>
          </a:p>
        </p:txBody>
      </p:sp>
      <p:pic>
        <p:nvPicPr>
          <p:cNvPr id="4" name="Picture 3" descr="mars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20040"/>
            <a:ext cx="2194560" cy="18002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492240"/>
            <a:ext cx="12191695" cy="0"/>
          </a:xfrm>
          <a:prstGeom prst="line">
            <a:avLst/>
          </a:prstGeom>
          <a:ln w="1270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arsh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611112"/>
            <a:ext cx="1737360" cy="142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6547104"/>
            <a:ext cx="6126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Benefit statements are drawn from insurer product brochures; policy wording prevails. Coverage terms, limits and waiting periods apply as per the policy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4710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Copyright © 2026 Marsh.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47104"/>
            <a:ext cx="3931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Deterministic comparison of the four brochures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How it compares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Preventive health check-up: stated as covered in HDFC ERGO Optima Secure+; not found, excluded or add-on in Care Health Care Supreme, Aditya Birla Activ One, Niva Bupa ReAssure 2.0 (per brochures).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In-patient hospitalisation: stated as covered in HDFC ERGO Optima Secure+; not found, excluded or add-on in Care Health Care Supreme, Aditya Birla Activ One (per brochures).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Room rent limit: stated as covered in HDFC ERGO Optima Secure+; not found, excluded or add-on in Niva Bupa ReAssure 2.0 (per brochures).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What to watch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70167.5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61607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The brochure does not address Wellness renewal discount; exposure 'Advisor priority: wellness and OPD' cannot be confirmed as covered (unknown, not excluded).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Teleconsultation / OPD is only available as an optional add-on at extra premium.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.5" y="1435608"/>
            <a:ext cx="0.0" cy="4645152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0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80841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Georgia"/>
              </a:rPr>
              <a:t>Recommendation and next steps</a:t>
            </a:r>
          </a:p>
        </p:txBody>
      </p:sp>
      <p:pic>
        <p:nvPicPr>
          <p:cNvPr id="4" name="Picture 3" descr="mars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20040"/>
            <a:ext cx="2194560" cy="18002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492240"/>
            <a:ext cx="12191695" cy="0"/>
          </a:xfrm>
          <a:prstGeom prst="line">
            <a:avLst/>
          </a:prstGeom>
          <a:ln w="1270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arsh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611112"/>
            <a:ext cx="1737360" cy="142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6547104"/>
            <a:ext cx="6126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Benefit statements are drawn from insurer product brochures; policy wording prevails. Coverage terms, limits and waiting periods apply as per the policy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47104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Copyright © 2026 Marsh.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47104"/>
            <a:ext cx="3931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00F4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Decision support for advisor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Our 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Recommended: HDFC ERGO Optima Secure+ (fit score 56.3/100, decision-support only).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Marsh advises on programme design, insurer negotiation and employee communication, and supports claims advocacy through the policy year.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0" i="0">
                <a:solidFill>
                  <a:srgbClr val="000F47"/>
                </a:solidFill>
                <a:latin typeface="Calibri"/>
              </a:rPr>
              <a:t>Next step: confirm group terms and policy wording with the insurer before client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1481328"/>
            <a:ext cx="5272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F47"/>
                </a:solidFill>
                <a:latin typeface="Calibri"/>
              </a:rPr>
              <a:t>Assumptions to confirm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70167.5" y="1810512"/>
            <a:ext cx="5364327.5" cy="0"/>
          </a:xfrm>
          <a:prstGeom prst="line">
            <a:avLst/>
          </a:prstGeom>
          <a:ln w="19050">
            <a:solidFill>
              <a:srgbClr val="000F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61607" y="2029968"/>
            <a:ext cx="52728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1" i="0">
                <a:solidFill>
                  <a:srgbClr val="64748B"/>
                </a:solidFill>
                <a:latin typeface="Calibri"/>
              </a:rPr>
              <a:t>Assumption: </a:t>
            </a:r>
            <a:r>
              <a:rPr sz="1600" b="0" i="0">
                <a:solidFill>
                  <a:srgbClr val="000F47"/>
                </a:solidFill>
                <a:latin typeface="Calibri"/>
              </a:rPr>
              <a:t>All four documents are retail individual/family-floater product brochures; group/corporate terms are not stated. The recommendation assumes a voluntary or employee-choice retail plan facilitated by Marsh.</a:t>
            </a:r>
          </a:p>
          <a:p>
            <a:pPr marL="338328" indent="-338328">
              <a:spcAft>
                <a:spcPts val="600"/>
              </a:spcAft>
              <a:buFont typeface="Calibri"/>
              <a:buChar char="–"/>
            </a:pPr>
            <a:r>
              <a:rPr sz="1600" b="1" i="0">
                <a:solidFill>
                  <a:srgbClr val="64748B"/>
                </a:solidFill>
                <a:latin typeface="Calibri"/>
              </a:rPr>
              <a:t>Assumption: </a:t>
            </a:r>
            <a:r>
              <a:rPr sz="1600" b="0" i="0">
                <a:solidFill>
                  <a:srgbClr val="000F47"/>
                </a:solidFill>
                <a:latin typeface="Calibri"/>
              </a:rPr>
              <a:t>Brochure content is summary-level; the policy wording prevails.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.5" y="1435608"/>
            <a:ext cx="0.0" cy="4645152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